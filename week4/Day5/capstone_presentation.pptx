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High-Income Individuals for Smarter Targeting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ML model that balances precision and recall — with interpretability built in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26306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926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&gt;50K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406908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6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who earns above $50K to optimize targeted marketing &amp; resource allocation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265176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26306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926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406908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6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~24% of individuals earn &gt;50K — a significant class imbalance to overcome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0" y="265176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26306B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2926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7532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406908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6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Class Weighting, achieving strong ROC AUC with full interpretability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— Executive Summary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Census Income — Capstone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Preprocessing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48,000 records from the Adult Census Income dataset, engineered end-to-end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1874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00200" y="228600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Census Income dataset — 48,000 records used to train and validate the model.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00200" y="3081528"/>
            <a:ext cx="9326880" cy="0"/>
          </a:xfrm>
          <a:prstGeom prst="line">
            <a:avLst/>
          </a:prstGeom>
          <a:noFill/>
          <a:ln w="12700">
            <a:solidFill>
              <a:srgbClr val="E3E7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3375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3291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600200" y="370332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income-relevant features such as age_bucket, education_hours, and has_capital_gain.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600200" y="4498848"/>
            <a:ext cx="9326880" cy="0"/>
          </a:xfrm>
          <a:prstGeom prst="line">
            <a:avLst/>
          </a:prstGeom>
          <a:noFill/>
          <a:ln w="12700">
            <a:solidFill>
              <a:srgbClr val="E3E7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754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00200" y="4709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Pipeline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600200" y="512064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missing-value imputation, numeric scaling, and one-hot encoding for categorical data — engineered to prevent data leakage.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— Data &amp; Preprocessing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Census Income — Capstone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Selection &amp; Ensembles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with F1-Score to avoid over-indexing on the majority class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50800" dir="5400000">
              <a:srgbClr val="1E2761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21992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219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performance (ROC AUC ~0.89), naturally handles non-linear relationships, and provides built-in feature importance.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1688" y="196596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4590288" y="2221992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E3E7F3"/>
          </a:solidFill>
          <a:ln/>
        </p:spPr>
      </p:sp>
      <p:sp>
        <p:nvSpPr>
          <p:cNvPr id="11" name="Text 9"/>
          <p:cNvSpPr/>
          <p:nvPr/>
        </p:nvSpPr>
        <p:spPr>
          <a:xfrm>
            <a:off x="4590288" y="22219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90288" y="27432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90288" y="342900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gradient-boosting alternative, evaluated alongside Random Forest during model selection.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83296" y="196596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311896" y="2221992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E3E7F3"/>
          </a:solidFill>
          <a:ln/>
        </p:spPr>
      </p:sp>
      <p:sp>
        <p:nvSpPr>
          <p:cNvPr id="16" name="Text 14"/>
          <p:cNvSpPr/>
          <p:nvPr/>
        </p:nvSpPr>
        <p:spPr>
          <a:xfrm>
            <a:off x="8311896" y="22219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11896" y="27432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Ensemble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11896" y="342900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multiple models into a stacked ensemble to explore whether blending improved results.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— Model Selection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Census Income — Capstone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Addressing Class Imbalance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naturally favor the majority class (≤50K), risking missed high earners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50800" dir="5400000">
              <a:srgbClr val="1E2761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21992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219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the most stable cross-validation F1-score without the computational overhead of SMOTE.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1688" y="196596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4590288" y="2221992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E3E7F3"/>
          </a:solidFill>
          <a:ln/>
        </p:spPr>
      </p:sp>
      <p:sp>
        <p:nvSpPr>
          <p:cNvPr id="11" name="Text 9"/>
          <p:cNvSpPr/>
          <p:nvPr/>
        </p:nvSpPr>
        <p:spPr>
          <a:xfrm>
            <a:off x="4590288" y="22219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90288" y="2743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Under-Sampling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90288" y="338328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classes by reducing majority-class examples; less stable across folds.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83296" y="196596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311896" y="2221992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E3E7F3"/>
          </a:solidFill>
          <a:ln/>
        </p:spPr>
      </p:sp>
      <p:sp>
        <p:nvSpPr>
          <p:cNvPr id="16" name="Text 14"/>
          <p:cNvSpPr/>
          <p:nvPr/>
        </p:nvSpPr>
        <p:spPr>
          <a:xfrm>
            <a:off x="8311896" y="22219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11896" y="2743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(SMOTE)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11896" y="338328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synthetic minority examples; added computational overhead without a stability gain.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— Class Imbalance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Census Income — Capstone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Interpretability &amp; Fairness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for the marketing team, and guardrails against amplifying bias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INSIGHTS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22585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gain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999232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99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971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712464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712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6850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(years)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425696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4256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439826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 status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527608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local explanations show exactly why an individual was classified &gt;50K or ≤50K.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187452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6E9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OBSERVATION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26060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Disparities exist across sex and race, reflecting historical biases already present in the census data — not something the model introduces on its own.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629400" y="4114800"/>
            <a:ext cx="4572000" cy="0"/>
          </a:xfrm>
          <a:prstGeom prst="line">
            <a:avLst/>
          </a:prstGeom>
          <a:noFill/>
          <a:ln w="12700">
            <a:solidFill>
              <a:srgbClr val="F0DC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29400" y="466344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these fairness metrics in production to ensure the model does not amplify existing inequality.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— Interpretability &amp; Fairness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Census Income — Capstone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Monitoring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self-contained inference pipeline with a concrete plan for staying accurate over time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29200" cy="4160520"/>
          </a:xfrm>
          <a:prstGeom prst="roundRect">
            <a:avLst>
              <a:gd name="adj" fmla="val 263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86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INFERENCE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6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 self-contained pipeline (.joblib), wrapped in a Python script capable of handling missing data and unseen categories gracefully.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49834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.joblib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60120" y="5669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E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PIPELINE FILE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8932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CHECKLIST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89320" y="2377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9893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75120" y="2331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272491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shifts in the age or education distributions.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89320" y="36118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9893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75120" y="3566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Distribution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75120" y="395935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if the predicted &gt;50K ratio drops below 20% or exceeds 30%.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4846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98932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675120" y="4800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Cadence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75120" y="519379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Re-evaluate model metrics quarterly, or immediately when a drift alert triggers.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— Deployment &amp; Monitoring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Census Income — Capstone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model into measurable business impact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2630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0604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5877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the model to 10% of users and measure conversion lift versus the baseline.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33172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26306B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260604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25877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92240" y="32918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false positives and false negatives to continuously improve the model.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846320"/>
            <a:ext cx="10908792" cy="0"/>
          </a:xfrm>
          <a:prstGeom prst="line">
            <a:avLst/>
          </a:prstGeom>
          <a:noFill/>
          <a:ln w="12700">
            <a:solidFill>
              <a:srgbClr val="3A44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1206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— Next Steps &amp; Q&amp;A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Census Income — Capstone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2026-08-10T12:45:21Z</dcterms:created>
  <dcterms:modified xsi:type="dcterms:W3CDTF">2026-08-10T12:45:21Z</dcterms:modified>
</cp:coreProperties>
</file>